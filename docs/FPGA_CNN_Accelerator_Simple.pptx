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1" r:id="rId4"/>
    <p:sldId id="262" r:id="rId5"/>
    <p:sldId id="264" r:id="rId6"/>
    <p:sldId id="267" r:id="rId7"/>
    <p:sldId id="268" r:id="rId8"/>
    <p:sldId id="270" r:id="rId9"/>
    <p:sldId id="27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040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2226" y="1108038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CNN Accelerator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52226" y="206815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4×4 PE-Based Convolution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14582" y="3211158"/>
            <a:ext cx="2743200" cy="82296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HDL Coder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43582" y="3211158"/>
            <a:ext cx="2743200" cy="82296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/ RTL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72582" y="3211158"/>
            <a:ext cx="2743200" cy="82296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FPGA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57782" y="3622638"/>
            <a:ext cx="68580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86782" y="3622638"/>
            <a:ext cx="68580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52226" y="449131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3×3 RGB convolution • 4 filters • 16 PE lanes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4E0383-1253-4BC3-BB66-256491B9278F}"/>
              </a:ext>
            </a:extLst>
          </p:cNvPr>
          <p:cNvSpPr txBox="1"/>
          <p:nvPr/>
        </p:nvSpPr>
        <p:spPr>
          <a:xfrm>
            <a:off x="9330735" y="5451438"/>
            <a:ext cx="29673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Presented by:</a:t>
            </a:r>
            <a:br>
              <a:rPr lang="en-US" dirty="0"/>
            </a:br>
            <a:r>
              <a:rPr lang="en-US" dirty="0" err="1"/>
              <a:t>Shreyashree</a:t>
            </a:r>
            <a:r>
              <a:rPr lang="en-US" dirty="0"/>
              <a:t> U S</a:t>
            </a:r>
            <a:br>
              <a:rPr lang="en-US" dirty="0"/>
            </a:br>
            <a:r>
              <a:rPr lang="en-US" dirty="0"/>
              <a:t>Department: PDMG</a:t>
            </a:r>
            <a:br>
              <a:rPr lang="en-US" dirty="0"/>
            </a:br>
            <a:r>
              <a:rPr lang="en-US" dirty="0"/>
              <a:t>Guide: Gaurav Upadhyay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6847" y="1395805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FPGA for CNN Acceleration?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6847" y="2081605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general-purpose computing to application-specific parallel hardware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6847" y="2721685"/>
            <a:ext cx="3566160" cy="548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6847" y="3270325"/>
            <a:ext cx="3566160" cy="2753958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architecture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and programmable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control and irregular workloads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parallel MAC throughput compared with massively parallel accelerators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inference can involve very large numbers of repeated operations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5887" y="2721685"/>
            <a:ext cx="3566160" cy="548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95887" y="3270325"/>
            <a:ext cx="3566160" cy="2753958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small cores run in parallel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large amounts of image and AI calculations very quickly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Supported by popular AI frameworks out of the box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Focused on maximum speed rather than low power use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a lot of electricity and generates heat</a:t>
            </a:r>
          </a:p>
        </p:txBody>
      </p:sp>
      <p:sp>
        <p:nvSpPr>
          <p:cNvPr id="8" name="Text 6"/>
          <p:cNvSpPr/>
          <p:nvPr/>
        </p:nvSpPr>
        <p:spPr>
          <a:xfrm>
            <a:off x="8044927" y="2721685"/>
            <a:ext cx="3566160" cy="548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4927" y="3270325"/>
            <a:ext cx="3566160" cy="2753958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Reconfigurable hardware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datapaths and parallelism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BRAM and DSP resources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and pipelined dataflow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tailored to precision, throughput and memory reuse</a:t>
            </a:r>
            <a:endParaRPr lang="en-US" sz="15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C16ED00C-375B-4F9C-B1DC-C0900DBDB76D}"/>
              </a:ext>
            </a:extLst>
          </p:cNvPr>
          <p:cNvSpPr txBox="1"/>
          <p:nvPr/>
        </p:nvSpPr>
        <p:spPr>
          <a:xfrm>
            <a:off x="546847" y="490817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u="sng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400" u="sn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MATLAB reference model for 3×3×3 RGB convolution.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synthesizable RTL using MATLAB HDL Coder.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architecture to a streaming implementation using line buffers.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four convolution filters and four output values per valid window.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4×4 PE-based architecture with 16 PE lanes.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complete RTL against a software-generated golden reference.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Vivado synthesis to analyze LUT, FF, BRAM, DSP and I/O utilization.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7606" y="15912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Design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62707" y="959224"/>
            <a:ext cx="1188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873496" y="959224"/>
            <a:ext cx="1188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HDL-compatible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84284" y="959224"/>
            <a:ext cx="1188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 Coder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95073" y="959224"/>
            <a:ext cx="1188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buffers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05861" y="959224"/>
            <a:ext cx="1188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filters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16650" y="959224"/>
            <a:ext cx="1188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PE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27438" y="959224"/>
            <a:ext cx="1188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+ Vivado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38227" y="959224"/>
            <a:ext cx="1188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51427" y="1462144"/>
            <a:ext cx="222069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62216" y="1462144"/>
            <a:ext cx="222069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73004" y="1462144"/>
            <a:ext cx="222069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83793" y="1462144"/>
            <a:ext cx="222069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94581" y="1462144"/>
            <a:ext cx="222069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05370" y="1462144"/>
            <a:ext cx="222069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116158" y="1462144"/>
            <a:ext cx="222069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8B7CFCB7-EA94-490C-B2EF-8402E163B7C0}"/>
              </a:ext>
            </a:extLst>
          </p:cNvPr>
          <p:cNvSpPr txBox="1"/>
          <p:nvPr/>
        </p:nvSpPr>
        <p:spPr>
          <a:xfrm>
            <a:off x="476923" y="2239385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Convolution:</a:t>
            </a:r>
            <a:endParaRPr lang="en-US" sz="32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D30D9514-53DB-4731-8DE9-4750135FF6F6}"/>
              </a:ext>
            </a:extLst>
          </p:cNvPr>
          <p:cNvSpPr/>
          <p:nvPr/>
        </p:nvSpPr>
        <p:spPr>
          <a:xfrm>
            <a:off x="1299883" y="3315596"/>
            <a:ext cx="2108371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spatial window</a:t>
            </a:r>
            <a:endParaRPr lang="en-US" sz="18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46BFC6BD-CBC8-4240-BE97-B5B6815786E0}"/>
              </a:ext>
            </a:extLst>
          </p:cNvPr>
          <p:cNvSpPr/>
          <p:nvPr/>
        </p:nvSpPr>
        <p:spPr>
          <a:xfrm>
            <a:off x="1318738" y="4295889"/>
            <a:ext cx="2108371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RGB channels</a:t>
            </a:r>
            <a:endParaRPr lang="en-US" sz="18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AB3BC1EB-D57B-4F3F-A091-65FC1315572D}"/>
              </a:ext>
            </a:extLst>
          </p:cNvPr>
          <p:cNvSpPr/>
          <p:nvPr/>
        </p:nvSpPr>
        <p:spPr>
          <a:xfrm>
            <a:off x="1318738" y="5259373"/>
            <a:ext cx="2108371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filters</a:t>
            </a:r>
            <a:endParaRPr lang="en-US" sz="18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D891C73B-71A7-44BB-BC9F-0AF17D7B5B7A}"/>
              </a:ext>
            </a:extLst>
          </p:cNvPr>
          <p:cNvSpPr/>
          <p:nvPr/>
        </p:nvSpPr>
        <p:spPr>
          <a:xfrm>
            <a:off x="8576827" y="3315596"/>
            <a:ext cx="247665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→ PEs</a:t>
            </a:r>
            <a:endParaRPr lang="en-US" sz="18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82A0FAB6-959D-4BDF-850A-D98E2D0F4510}"/>
              </a:ext>
            </a:extLst>
          </p:cNvPr>
          <p:cNvSpPr/>
          <p:nvPr/>
        </p:nvSpPr>
        <p:spPr>
          <a:xfrm>
            <a:off x="8576827" y="4290064"/>
            <a:ext cx="247665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→ line buffers</a:t>
            </a:r>
            <a:endParaRPr lang="en-US" sz="18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D6CCB622-9811-490C-B0C0-220F8A4281E5}"/>
              </a:ext>
            </a:extLst>
          </p:cNvPr>
          <p:cNvSpPr/>
          <p:nvPr/>
        </p:nvSpPr>
        <p:spPr>
          <a:xfrm>
            <a:off x="8576827" y="5259373"/>
            <a:ext cx="247665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 → throughput</a:t>
            </a:r>
            <a:endParaRPr lang="en-US" sz="18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5844C7E7-9242-4354-B5D5-5EAF533F4B00}"/>
              </a:ext>
            </a:extLst>
          </p:cNvPr>
          <p:cNvSpPr/>
          <p:nvPr/>
        </p:nvSpPr>
        <p:spPr>
          <a:xfrm>
            <a:off x="4524175" y="3566160"/>
            <a:ext cx="2881440" cy="173736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3 × 3 = 27</a:t>
            </a:r>
            <a:endParaRPr lang="en-US" sz="2400" dirty="0"/>
          </a:p>
          <a:p>
            <a:pPr marL="0" indent="0" algn="ctr">
              <a:spcAft>
                <a:spcPts val="14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terms / filter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× 4 = 108</a:t>
            </a:r>
            <a:endParaRPr lang="en-US" sz="2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filter-weight products</a:t>
            </a:r>
            <a:endParaRPr lang="en-US" sz="240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DA439451-C466-4831-A8D8-1DD8F6095F8D}"/>
              </a:ext>
            </a:extLst>
          </p:cNvPr>
          <p:cNvSpPr/>
          <p:nvPr/>
        </p:nvSpPr>
        <p:spPr>
          <a:xfrm>
            <a:off x="3417680" y="3504305"/>
            <a:ext cx="1125350" cy="888402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F8C9DE1F-CDE6-4B0D-A846-9A8ED6ADA6E4}"/>
              </a:ext>
            </a:extLst>
          </p:cNvPr>
          <p:cNvSpPr/>
          <p:nvPr/>
        </p:nvSpPr>
        <p:spPr>
          <a:xfrm flipV="1">
            <a:off x="7405615" y="3504305"/>
            <a:ext cx="1166522" cy="847838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38052C94-5231-4B57-A161-F33AE89D87D7}"/>
              </a:ext>
            </a:extLst>
          </p:cNvPr>
          <p:cNvSpPr/>
          <p:nvPr/>
        </p:nvSpPr>
        <p:spPr>
          <a:xfrm>
            <a:off x="3436536" y="4467788"/>
            <a:ext cx="1106494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F8A185FF-31C7-434B-95B1-C063C30FFDFF}"/>
              </a:ext>
            </a:extLst>
          </p:cNvPr>
          <p:cNvSpPr/>
          <p:nvPr/>
        </p:nvSpPr>
        <p:spPr>
          <a:xfrm>
            <a:off x="7405615" y="4416999"/>
            <a:ext cx="1198149" cy="45101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DF618E06-4D57-4DE3-9C2B-2790FC04CBF8}"/>
              </a:ext>
            </a:extLst>
          </p:cNvPr>
          <p:cNvSpPr/>
          <p:nvPr/>
        </p:nvSpPr>
        <p:spPr>
          <a:xfrm flipV="1">
            <a:off x="3436537" y="4527853"/>
            <a:ext cx="1092352" cy="1008514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44EA459A-6465-41F0-AD75-BBFA28FE8AB2}"/>
              </a:ext>
            </a:extLst>
          </p:cNvPr>
          <p:cNvSpPr/>
          <p:nvPr/>
        </p:nvSpPr>
        <p:spPr>
          <a:xfrm>
            <a:off x="7405615" y="4582195"/>
            <a:ext cx="1166522" cy="682337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Pixel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651760" y="173736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Buffer 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51760" y="393192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Buffer 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2834640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RGB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V="1">
            <a:off x="2103120" y="2194560"/>
            <a:ext cx="548640" cy="9144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03120" y="3474720"/>
            <a:ext cx="548640" cy="9144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2194560"/>
            <a:ext cx="548640" cy="9144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4297680" y="3474720"/>
            <a:ext cx="548640" cy="9144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223760" y="164592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92440" y="164592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0" y="164592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29800" y="164592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228600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228600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0" y="228600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29800" y="228600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292608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92440" y="292608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0" y="292608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29800" y="292608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356616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92440" y="356616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0" y="356616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29800" y="3566160"/>
            <a:ext cx="73152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F559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 flipV="1">
            <a:off x="6400800" y="2834640"/>
            <a:ext cx="822960" cy="4572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772400" y="4480560"/>
            <a:ext cx="27432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filter outputs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Y0, Y1, Y2, Y3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44000" y="4160520"/>
            <a:ext cx="0" cy="32004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2 line buffers → 3×3×3 sliding window → 16 PE lanes → four accumulated outputs.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8889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Results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85888" y="5195868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outputs were generated from the software convolution model.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files were used to provide reproducible hardware test vectors.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simulation compared every valid hardware output with the expected result.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mismatches were observed in the final test.</a:t>
            </a:r>
            <a:endParaRPr lang="en-US"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AB9F9FB-44D8-460B-AF4B-000BD1BC5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21" y="726417"/>
            <a:ext cx="5334384" cy="43063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A67E29-FB8A-4497-A8EC-B14F35780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697" y="826788"/>
            <a:ext cx="5478331" cy="41055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37499" y="215154"/>
            <a:ext cx="6154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Resource Utilization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537499" y="4683164"/>
            <a:ext cx="6154008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407 I/O count comes from the flattened top-level HDL interface, including many individual filter-weight ports.</a:t>
            </a: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D3AA47-47B5-4895-8E70-459412705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958" y="1063030"/>
            <a:ext cx="6154009" cy="3458058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E14FDE93-B381-4237-9F7B-292B187F9088}"/>
              </a:ext>
            </a:extLst>
          </p:cNvPr>
          <p:cNvSpPr txBox="1"/>
          <p:nvPr/>
        </p:nvSpPr>
        <p:spPr>
          <a:xfrm>
            <a:off x="500492" y="215154"/>
            <a:ext cx="35963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</a:t>
            </a: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Synthesis</a:t>
            </a:r>
            <a:endParaRPr lang="en-US" sz="3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DD7E24-3008-4504-B502-71BFF60F2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15" y="970907"/>
            <a:ext cx="4313555" cy="51430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and Future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94960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394960" cy="3108961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MATLAB reference model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HDL Coder RTL generation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Streaming line-buffer architecture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Four-filter implementation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4×4 / 16-PE architecture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MATLAB verification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Vivado RTL simulation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3600 / 3600 outputs, 0 errors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Vivado synthesis and utilization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1371600"/>
            <a:ext cx="5394960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0" y="1874520"/>
            <a:ext cx="5394960" cy="3108961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152400" tIns="152400" rIns="152400" bIns="1524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Weight BRAM interface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Weight-register / loader block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CPU / AXI control layer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Open-source RISC-V integration option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Larger PE arrays: 8×8 / 16×16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 CNN layers: ReLU, pooling, multi-layer dataflow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Throughput, latency and energy benchmarking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5689"/>
            <a:ext cx="11064240" cy="263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convolution kernel was translated into synthesizable RTL using MATLAB HDL Coder.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was progressively transformed into a streaming architecture with line-buffered image data.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accelerator uses a 4×4 PE-based organization with 16 parallel accumulation lanes and four filter outputs.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RTL was verified against a software-generated golden reference with 3600/3600 outputs correct and zero errors.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synthesis confirmed FPGA resource usage and enabled DSP-based implementation analysis.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design provides a foundation for memory-mapped weights, processor control and larger CNN accelerator architectures.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57482"/>
            <a:ext cx="11033760" cy="113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636</Words>
  <Application>Microsoft Office PowerPoint</Application>
  <PresentationFormat>Widescreen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Radha</cp:lastModifiedBy>
  <cp:revision>5</cp:revision>
  <dcterms:created xsi:type="dcterms:W3CDTF">2026-09-19T03:42:06Z</dcterms:created>
  <dcterms:modified xsi:type="dcterms:W3CDTF">2026-09-19T06:19:28Z</dcterms:modified>
</cp:coreProperties>
</file>